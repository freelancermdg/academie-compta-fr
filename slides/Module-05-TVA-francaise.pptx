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109728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MODULE 5 — TVA française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A13A"/>
                </a:solidFill>
                <a:latin typeface="Calibri"/>
              </a:rPr>
              <a:t>Comptabilité française externalisée  -  Formation en ligne · Madagascar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Objectifs pédagogiques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Comprendre TVA collectée, déductible, à décaisser, crédit de TVA.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Distinguer TVA sur les débits / sur les encaissements.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Connaître les régimes (franchise, réel simplifié, réel normal) et les déclarations CA3 / CA12.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Préparer une déclaration de TVA contrôlée, prête à valider.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Compétences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Calculer la TVA à payer / le crédit du mois.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Contrôler la cohérence TVA avant déclaration.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Identifier la TVA non déductible.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1. Principe général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La TVA est un impôt sur la consommation, collecté pour l'État. L'entreprise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collecte la TVA sur ses ventes (44571),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déduit la TVA sur ses achats (44566 / 44562),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reverse la différence : TVA à décaisser = TVA collectée − TVA déductible (44551), ou constate un crédit de TVA (44567) si déductible &gt; collectée.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2. Les taux de TVA en vigueur (2026)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Taux / Application principale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Le collaborateur applique le taux porté sur la facture ; en cas de doute (ex. travaux 10 % vs 20 %), signaler au chef de mission.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3. TVA sur les débits vs sur les encaissements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Régime d'exigibilité / Quand la TVA est due / Concerne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4. Les régimes de TVA et seuils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Régime / Seuils de CA (2026) / Déclaration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La réforme du seuil unique de franchise à 25 000 € a été suspendue ; en 2026, les seuils ci-dessus restent applicables. Toujours vérifier le régime exact dans le dossier permanent.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ℹ️ Dès qu'une entreprise dépasse le seuil de tolérance en cours d'année, elle devient redevable de la TVA dès le 1er jour du mois de dépassement.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5. Les déclarations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E6CA4"/>
                </a:solidFill>
              </a:rPr>
              <a:t>CA3 (réel normal — mensuelle/trimestrielle)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Cadres clés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Ligne 01 : ventes/prestations taxables (base HT).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Lignes 08 à 5B : TVA collectée par taux.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Ligne 20 : TVA déductible sur ABS (biens et services).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Ligne 19/23 : TVA déductible sur immobilisations.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5. Les déclarations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Ligne 22 : crédit de TVA antérieur.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Ligne 16 : TVA brute due.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Ligne 28 : crédit de TVA.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Ligne 32 : TVA nette à payer.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Acquisitions intracommunautaires et autoliquidation : cadres dédiés.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E6CA4"/>
                </a:solidFill>
              </a:rPr>
              <a:t>CA12 (réel simplifié — annuelle)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5. Les déclarations (suite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Récapitule l'année + régularise les 2 acomptes (juillet/décembre) déjà versés.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6. Cas particuliers de TVA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Autoliquidation (sous-traitance BTP, achats à un fournisseur étranger) : l'acheteur collecte ET déduit. Neutre, mais à déclarer.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TVA intracommunautaire (achat de biens UE) : autoliquidation (TVA due + TVA déductible). Vente intracom = exonérée (avec n° TVA client + DEB/état réca…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Importation hors UE : TVA à l'import autoliquidée sur la CA3 (réforme 2022) — plus de paiement en douane.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TVA sur immobilisations : déductible (44562) si bien affecté à l'activité taxable ; non déductible sur les véhicules de tourisme.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TVA non déductible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Véhicules de tourisme (achat, entretien) 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6. Cas particuliers de TVA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Carburant : gazole/essence déductibles à 80 % pour les VP, 100 % pour les VU 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Dépenses de logement des dirigeants/salariés 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Cadeaux &gt; seuil unitaire (au-delà du plafond légal) 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Dépenses sans facture conforme.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7. Contrôles AVANT déclaration (procédure cabinet)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Lettrer / pointer la banque du mois (TVA encaissements = factures payées).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Vérifier que toutes les ventes du mois sont saisies (n° de factures continus).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Vérifier la cohérence collectée : CA HT × taux ≈ TVA collectée.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Vérifier la TVA déductible : pas de TVA sur assurance, sur VP, sur factures non conformes.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Contrôler les comptes 44571 / 44566 / 44562 au grand livre.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Vérifier les autoliquidations / intracom déclarées.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7. Contrôles AVANT déclaration (procédure cabinet)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Rapprocher avec la CA3 du mois précédent (cohérence, crédit reporté).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Éditer un brouillon et le faire valider par le chef de mission avant télétransmission.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Le collaborateur prépare la déclaration ; la validation et l'envoi relèvent du chef de mission / expert-comptable.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8. Erreurs fréquentes à éviter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Déduire la TVA sur une assurance (exonérée) ou sur un VP.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Oublier la TVA sur encaissements (déclarer sur factures émises au lieu d'encaissées).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Doublon de TVA (facture saisie 2 fois).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Mauvais taux (10 % vs 20 % sur travaux).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Oublier d'autoliquider un achat intracom / sous-traitance BTP.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Ne pas reporter le crédit de TVA du mois précédent.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8. Erreurs fréquentes à éviter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Confondre HT / TTC (TVA recalculée à l'envers fausse).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Cas pratique 5.1 — Préparer une CA3 mensuelle (réel normal, débits)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Données du mois (TVA 20 %)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Ventes de marchandises : 50 000 € HT.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Achats de marchandises : 30 000 € HT.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Frais généraux déductibles : 4 000 € HT.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Achat d'un ordinateur (immo) : 2 000 € HT.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Crédit de TVA reporté du mois précédent : 300 €.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Cas pratique 5.1 — Préparer une CA3 mensuelle (réel normal, débits)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Travail : calculez la TVA à payer.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E6CA4"/>
                </a:solidFill>
              </a:rPr>
              <a:t>Correction 5.1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TVA collectée : 50 000 × 20 % = 10 000 €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TVA déductible ABS : (30 000 + 4 000) × 20 % = 6 800 €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TVA déductible immobilisations : 2 000 × 20 % = 400 €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Crédit antérieur : 300 €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Cas pratique 5.1 — Préparer une CA3 mensuelle (réel normal, débits) (suite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TVA à payer = 10 000 − 6 800 − 400 − 300 = 2 500 €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Écriture de la déclaration (OD)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Compte / Débit / Crédit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Au paiement : 44551 D 2 500 / 512 C 2 500.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Cas pratique 5.2 — TVA sur encaissements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E6CA4"/>
                </a:solidFill>
              </a:rPr>
              <a:t>Correction 5.2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TVA collectée mars = sur les encaissements = 7 000 × 20 % = 1 400 € (et non 12 000 × 20 %). Le solde sera collecté au fur et à mesure des encaissement…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Évaluation de fin de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Quiz interactif auto-corrige disponible dans la plateforme e-learning (seuil de reussite : 70 %).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8A13A"/>
                </a:solidFill>
                <a:latin typeface="Calibri"/>
              </a:rPr>
              <a:t>A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Appliquez la checklist du module avant toute livraison.
Faites le quiz interactif dans la plateforme (seuil 70 %).
Vous preparez et proposez ; l'expert-comptable decide et signe.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